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01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75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A65A92-27B3-45AE-9B8D-390528703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5DD2578-13FE-4B72-B6BD-509B55F99C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63A53F-B699-483F-BD83-88B1D7958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FA8E4-93AF-4CDA-8C7C-7CF483C43086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6FAF8D-3EDF-4C08-9F1C-1E1AF8A0D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67D0FA-4C1E-4A76-B503-6AECD12C1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709A6-10A9-47BC-8EDC-BF1DA13798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876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05C4EF-B95D-40D7-9327-82B36D11E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29A42F-8AF0-4538-BD6C-893B89373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3A5F71-F31B-4CAE-B2A9-305F7E6DC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FA8E4-93AF-4CDA-8C7C-7CF483C43086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BBC9D-DBC2-46FD-A85F-E86B4B932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D5D0C2-FEAD-4522-BB5B-1E86E6D78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709A6-10A9-47BC-8EDC-BF1DA13798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9971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3A991F-9C6F-4B7D-A2A4-6DBE6AE75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7692EE-F3F1-40A9-A8EC-7023EABE9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6588CC-EBD4-47BE-964E-63D5E1804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FA8E4-93AF-4CDA-8C7C-7CF483C43086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89D125-385D-4559-A4CD-1D635C19B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895211-E734-49A8-8078-7BBD78DF0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709A6-10A9-47BC-8EDC-BF1DA13798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826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7558DF-8C2A-4432-BF8E-04FBB5359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840134-EEDB-45B2-89B5-1F521ECDF6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5C14B3A-F1AE-4F80-9102-D3546093A5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03171A-4097-4C52-BD91-7088BFCF2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FA8E4-93AF-4CDA-8C7C-7CF483C43086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2127A4-1D4E-4ECC-8E90-4F5C593D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C40B62-CD22-44D2-8836-E4F9B3282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709A6-10A9-47BC-8EDC-BF1DA13798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4081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0402D7-C8F9-41BB-9603-4F82D6124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D75BD1-DF65-409C-9B07-9E9CF2BE2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4B03887-C51A-461F-919D-E047521767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C9E012A-C676-4B91-B698-EBCE4D905C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0694BBB-7F34-46D8-BE3F-039705803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AFCF5D3-2D33-413A-BCE0-FB31BD205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FA8E4-93AF-4CDA-8C7C-7CF483C43086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FAF5726-C2EF-45A1-A828-908F2235B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934A1DA-296F-4BD4-B158-7B8CC2D7E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709A6-10A9-47BC-8EDC-BF1DA13798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0447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DA20BB-E2F9-4D5A-8C57-900535AE0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7EAA9C-0117-4AD8-9EA0-22554277A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FA8E4-93AF-4CDA-8C7C-7CF483C43086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8994E75-1F8A-4023-B1FB-27D9FFCBF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0674353-0DE5-4833-B0D5-9B46F5577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709A6-10A9-47BC-8EDC-BF1DA13798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4971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8AF18A5-F390-456A-BE87-7E344E13D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FA8E4-93AF-4CDA-8C7C-7CF483C43086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39B330F-8816-43D9-B8B9-663539AB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986539-A3F7-45BA-9315-40F9A393E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709A6-10A9-47BC-8EDC-BF1DA13798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486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DA4461-036D-4B43-AA9F-C964F0664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0203C6-3109-497B-AF54-0185340BF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4161B22-0469-4A09-A328-419D6AFDF2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F2920A-E9A4-4D23-B6D3-DFE668B7C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FA8E4-93AF-4CDA-8C7C-7CF483C43086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6757E0-DB51-4952-B147-8BF9CCF7A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2D72A8-AF4D-4DCA-B42E-0A92006E1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709A6-10A9-47BC-8EDC-BF1DA13798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494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3FF2F6-66A8-4D97-8DF3-EE3D685BA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EE56F72-0F1F-464A-B8B6-67965D36F5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E5B2BC-50A9-4366-BC39-B641819C7C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C3E907-476D-4BC9-8551-8CD9B849A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FA8E4-93AF-4CDA-8C7C-7CF483C43086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525214-9005-41A8-A1EF-6982EF067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56BBAE-4D56-4844-9CAC-E8C5B6149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709A6-10A9-47BC-8EDC-BF1DA13798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1452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12B4CD-C8B2-4D5D-BC5F-7339D3BF5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0674E6-8005-44AA-9FC1-8975F8A53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7003D4-6DF4-40F9-8D82-841DB8B34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FA8E4-93AF-4CDA-8C7C-7CF483C43086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74CFBC-5163-4BA3-AC15-67ACED292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6E39C6-50A6-41A3-AFBE-8B8E42768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709A6-10A9-47BC-8EDC-BF1DA13798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9874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8A69A2A-87C5-4906-9CB1-DA44403283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8928AE4-DEC5-47D1-A801-F75F64322A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D4D04D-CE26-417D-9BAB-1C0F9131A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FA8E4-93AF-4CDA-8C7C-7CF483C43086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723516-1CF6-4973-A199-1E9E9DBEE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68AE7C-BA2E-4CA4-8BF2-D5F5373B7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709A6-10A9-47BC-8EDC-BF1DA13798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2471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F063090-47E0-4F1D-96D9-7D1094569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6FB1DD-6E3E-4AFF-A07D-C261A1506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F7F483-11B1-4635-A43E-F9D28706C4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DFA8E4-93AF-4CDA-8C7C-7CF483C43086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0B167D-8066-45D0-BA2F-67E4C35152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2ADCB0-9ADA-4D5F-ACD0-A2547D2B2A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0709A6-10A9-47BC-8EDC-BF1DA13798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675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839020FD-7487-4308-B957-80F045872B9C}"/>
              </a:ext>
            </a:extLst>
          </p:cNvPr>
          <p:cNvSpPr/>
          <p:nvPr/>
        </p:nvSpPr>
        <p:spPr>
          <a:xfrm>
            <a:off x="2809504" y="1623630"/>
            <a:ext cx="6572992" cy="192239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E0F852AA-6C2C-4E57-80CE-CC5BA90899AF}"/>
              </a:ext>
            </a:extLst>
          </p:cNvPr>
          <p:cNvSpPr/>
          <p:nvPr/>
        </p:nvSpPr>
        <p:spPr>
          <a:xfrm>
            <a:off x="2819896" y="693423"/>
            <a:ext cx="6572992" cy="66148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2FB0322-E3B1-45A4-B589-D90FF2042AC6}"/>
              </a:ext>
            </a:extLst>
          </p:cNvPr>
          <p:cNvSpPr/>
          <p:nvPr/>
        </p:nvSpPr>
        <p:spPr>
          <a:xfrm>
            <a:off x="2819896" y="3812265"/>
            <a:ext cx="6572992" cy="94854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C004112-1620-46D7-93CB-675BB328CCE3}"/>
              </a:ext>
            </a:extLst>
          </p:cNvPr>
          <p:cNvSpPr/>
          <p:nvPr/>
        </p:nvSpPr>
        <p:spPr>
          <a:xfrm>
            <a:off x="3105397" y="4081934"/>
            <a:ext cx="961902" cy="39782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多模态大模型推理调度引擎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C17AA5A-64DF-4462-8815-C6498C0A58F1}"/>
              </a:ext>
            </a:extLst>
          </p:cNvPr>
          <p:cNvSpPr/>
          <p:nvPr/>
        </p:nvSpPr>
        <p:spPr>
          <a:xfrm>
            <a:off x="4408962" y="4081934"/>
            <a:ext cx="1355767" cy="39782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智能体引擎</a:t>
            </a:r>
            <a:endParaRPr lang="en-US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（编排、调度、执行）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DBFF26B-63A1-4484-9F23-F90B7243CE56}"/>
              </a:ext>
            </a:extLst>
          </p:cNvPr>
          <p:cNvSpPr/>
          <p:nvPr/>
        </p:nvSpPr>
        <p:spPr>
          <a:xfrm>
            <a:off x="6106392" y="4081934"/>
            <a:ext cx="863930" cy="39782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工具引擎</a:t>
            </a:r>
            <a:endParaRPr lang="en-US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MCP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等）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58DA759-291F-44AB-A368-8482A07D7215}"/>
              </a:ext>
            </a:extLst>
          </p:cNvPr>
          <p:cNvSpPr/>
          <p:nvPr/>
        </p:nvSpPr>
        <p:spPr>
          <a:xfrm>
            <a:off x="7311985" y="4081934"/>
            <a:ext cx="759030" cy="39782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851E7EC-4C6E-4EEF-AF59-55C5D989F787}"/>
              </a:ext>
            </a:extLst>
          </p:cNvPr>
          <p:cNvSpPr/>
          <p:nvPr/>
        </p:nvSpPr>
        <p:spPr>
          <a:xfrm>
            <a:off x="8412679" y="4081934"/>
            <a:ext cx="759030" cy="39782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文件系统</a:t>
            </a:r>
          </a:p>
        </p:txBody>
      </p: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3938FE58-C34E-43F7-B576-B2DB39F15C06}"/>
              </a:ext>
            </a:extLst>
          </p:cNvPr>
          <p:cNvGrpSpPr/>
          <p:nvPr/>
        </p:nvGrpSpPr>
        <p:grpSpPr>
          <a:xfrm>
            <a:off x="6173891" y="1766949"/>
            <a:ext cx="1418731" cy="1512837"/>
            <a:chOff x="6173891" y="1766949"/>
            <a:chExt cx="1418731" cy="1512837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B9DBE3DC-A78F-4BED-A5A0-5387BD9764BA}"/>
                </a:ext>
              </a:extLst>
            </p:cNvPr>
            <p:cNvSpPr/>
            <p:nvPr/>
          </p:nvSpPr>
          <p:spPr>
            <a:xfrm>
              <a:off x="6173891" y="1766949"/>
              <a:ext cx="1418731" cy="293421"/>
            </a:xfrm>
            <a:prstGeom prst="round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云端操作助手（企业级）</a:t>
              </a:r>
            </a:p>
          </p:txBody>
        </p: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19E7C0D1-1A4E-4CE5-AD4E-8D45C4BBFCB8}"/>
                </a:ext>
              </a:extLst>
            </p:cNvPr>
            <p:cNvSpPr/>
            <p:nvPr/>
          </p:nvSpPr>
          <p:spPr>
            <a:xfrm>
              <a:off x="6294047" y="2153367"/>
              <a:ext cx="1178418" cy="304800"/>
            </a:xfrm>
            <a:prstGeom prst="roundRect">
              <a:avLst/>
            </a:prstGeom>
            <a:ln>
              <a:solidFill>
                <a:schemeClr val="bg2">
                  <a:lumMod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Web UI</a:t>
              </a:r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自动化</a:t>
              </a:r>
            </a:p>
          </p:txBody>
        </p: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00A8A6DA-A731-4D53-87FA-3B0FF9C1EC3A}"/>
                </a:ext>
              </a:extLst>
            </p:cNvPr>
            <p:cNvSpPr/>
            <p:nvPr/>
          </p:nvSpPr>
          <p:spPr>
            <a:xfrm>
              <a:off x="6294047" y="2977459"/>
              <a:ext cx="1178419" cy="302327"/>
            </a:xfrm>
            <a:prstGeom prst="roundRect">
              <a:avLst/>
            </a:prstGeom>
            <a:ln>
              <a:solidFill>
                <a:schemeClr val="bg2">
                  <a:lumMod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接口自动化</a:t>
              </a: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631BE818-1B59-4FAA-AEEF-070020C98AA5}"/>
                </a:ext>
              </a:extLst>
            </p:cNvPr>
            <p:cNvSpPr/>
            <p:nvPr/>
          </p:nvSpPr>
          <p:spPr>
            <a:xfrm>
              <a:off x="6294047" y="2565413"/>
              <a:ext cx="1178419" cy="304800"/>
            </a:xfrm>
            <a:prstGeom prst="roundRect">
              <a:avLst/>
            </a:prstGeom>
            <a:ln>
              <a:solidFill>
                <a:schemeClr val="bg2">
                  <a:lumMod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规则引擎</a:t>
              </a:r>
            </a:p>
          </p:txBody>
        </p:sp>
      </p:grp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EEB8F37-A377-4A30-8F4A-FDCC4B62A3AF}"/>
              </a:ext>
            </a:extLst>
          </p:cNvPr>
          <p:cNvSpPr/>
          <p:nvPr/>
        </p:nvSpPr>
        <p:spPr>
          <a:xfrm>
            <a:off x="7855528" y="1766949"/>
            <a:ext cx="1261564" cy="293421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端侧操作助手（个人）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62A9C087-8C8B-448B-8F88-AF1A9192EAE4}"/>
              </a:ext>
            </a:extLst>
          </p:cNvPr>
          <p:cNvSpPr/>
          <p:nvPr/>
        </p:nvSpPr>
        <p:spPr>
          <a:xfrm>
            <a:off x="7897102" y="2161829"/>
            <a:ext cx="1178418" cy="293422"/>
          </a:xfrm>
          <a:prstGeom prst="roundRect">
            <a:avLst/>
          </a:prstGeom>
          <a:ln>
            <a:solidFill>
              <a:schemeClr val="bg2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HID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人机接口设备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3D4DD3D-80C3-40D5-9479-330A160F7125}"/>
              </a:ext>
            </a:extLst>
          </p:cNvPr>
          <p:cNvSpPr/>
          <p:nvPr/>
        </p:nvSpPr>
        <p:spPr>
          <a:xfrm>
            <a:off x="7897101" y="2957588"/>
            <a:ext cx="1178419" cy="302327"/>
          </a:xfrm>
          <a:prstGeom prst="roundRect">
            <a:avLst/>
          </a:prstGeom>
          <a:ln>
            <a:solidFill>
              <a:schemeClr val="bg2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接口自动化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430AFA46-56CD-454E-B431-B39CA52DAB83}"/>
              </a:ext>
            </a:extLst>
          </p:cNvPr>
          <p:cNvSpPr/>
          <p:nvPr/>
        </p:nvSpPr>
        <p:spPr>
          <a:xfrm>
            <a:off x="7897101" y="2554019"/>
            <a:ext cx="1178419" cy="304800"/>
          </a:xfrm>
          <a:prstGeom prst="roundRect">
            <a:avLst/>
          </a:prstGeom>
          <a:ln>
            <a:solidFill>
              <a:schemeClr val="bg2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规则引擎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E45B0D11-AEF7-4C9E-B796-A6CB25E18F1A}"/>
              </a:ext>
            </a:extLst>
          </p:cNvPr>
          <p:cNvSpPr/>
          <p:nvPr/>
        </p:nvSpPr>
        <p:spPr>
          <a:xfrm>
            <a:off x="3485903" y="896184"/>
            <a:ext cx="2047932" cy="29342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CUI 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对话式用户界面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65440D69-A762-4802-928A-398B63B2010E}"/>
              </a:ext>
            </a:extLst>
          </p:cNvPr>
          <p:cNvSpPr/>
          <p:nvPr/>
        </p:nvSpPr>
        <p:spPr>
          <a:xfrm>
            <a:off x="6548748" y="904659"/>
            <a:ext cx="2047932" cy="29342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业务应用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15ECB2F6-3501-48E4-B312-9BCAE52C0ACF}"/>
              </a:ext>
            </a:extLst>
          </p:cNvPr>
          <p:cNvSpPr/>
          <p:nvPr/>
        </p:nvSpPr>
        <p:spPr>
          <a:xfrm>
            <a:off x="9740709" y="1471766"/>
            <a:ext cx="323626" cy="23102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原有信息系统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数据系统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环境</a:t>
            </a:r>
          </a:p>
        </p:txBody>
      </p:sp>
      <p:sp>
        <p:nvSpPr>
          <p:cNvPr id="41" name="箭头: 下 40">
            <a:extLst>
              <a:ext uri="{FF2B5EF4-FFF2-40B4-BE49-F238E27FC236}">
                <a16:creationId xmlns:a16="http://schemas.microsoft.com/office/drawing/2014/main" id="{9BAFC23F-AB97-4EA3-A332-F171A4E138F1}"/>
              </a:ext>
            </a:extLst>
          </p:cNvPr>
          <p:cNvSpPr/>
          <p:nvPr/>
        </p:nvSpPr>
        <p:spPr>
          <a:xfrm rot="5400000">
            <a:off x="9433199" y="2381686"/>
            <a:ext cx="285008" cy="205366"/>
          </a:xfrm>
          <a:prstGeom prst="down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61CAD9CF-CE3D-4D05-A021-CE31D097BE88}"/>
              </a:ext>
            </a:extLst>
          </p:cNvPr>
          <p:cNvGrpSpPr/>
          <p:nvPr/>
        </p:nvGrpSpPr>
        <p:grpSpPr>
          <a:xfrm>
            <a:off x="3084831" y="1766949"/>
            <a:ext cx="1285288" cy="1081713"/>
            <a:chOff x="3084831" y="1766949"/>
            <a:chExt cx="1285288" cy="1081713"/>
          </a:xfrm>
        </p:grpSpPr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B3565223-1E99-42A6-88E9-73CFCE39D6D4}"/>
                </a:ext>
              </a:extLst>
            </p:cNvPr>
            <p:cNvSpPr/>
            <p:nvPr/>
          </p:nvSpPr>
          <p:spPr>
            <a:xfrm>
              <a:off x="3084831" y="1766949"/>
              <a:ext cx="1285288" cy="293421"/>
            </a:xfrm>
            <a:prstGeom prst="round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知识库</a:t>
              </a:r>
            </a:p>
          </p:txBody>
        </p:sp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69D49DC6-AD0B-4ED6-8A67-85C9B3F7DDDF}"/>
                </a:ext>
              </a:extLst>
            </p:cNvPr>
            <p:cNvSpPr/>
            <p:nvPr/>
          </p:nvSpPr>
          <p:spPr>
            <a:xfrm>
              <a:off x="3088496" y="2119197"/>
              <a:ext cx="1277958" cy="332509"/>
            </a:xfrm>
            <a:prstGeom prst="roundRect">
              <a:avLst/>
            </a:prstGeom>
            <a:ln>
              <a:solidFill>
                <a:schemeClr val="bg2">
                  <a:lumMod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非结构化文件存储</a:t>
              </a:r>
            </a:p>
          </p:txBody>
        </p:sp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5131A990-C573-48CE-AA5B-FEE7A4F4F648}"/>
                </a:ext>
              </a:extLst>
            </p:cNvPr>
            <p:cNvSpPr/>
            <p:nvPr/>
          </p:nvSpPr>
          <p:spPr>
            <a:xfrm>
              <a:off x="3088496" y="2510533"/>
              <a:ext cx="1277958" cy="338129"/>
            </a:xfrm>
            <a:prstGeom prst="roundRect">
              <a:avLst/>
            </a:prstGeom>
            <a:ln>
              <a:solidFill>
                <a:schemeClr val="bg2">
                  <a:lumMod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相似度检索</a:t>
              </a:r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3B2F3456-9C8C-4CBA-A58D-4BB82473A82D}"/>
              </a:ext>
            </a:extLst>
          </p:cNvPr>
          <p:cNvGrpSpPr/>
          <p:nvPr/>
        </p:nvGrpSpPr>
        <p:grpSpPr>
          <a:xfrm>
            <a:off x="4633026" y="1766949"/>
            <a:ext cx="1277958" cy="1358464"/>
            <a:chOff x="4633026" y="1766949"/>
            <a:chExt cx="1277958" cy="1358464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C7DAEEAF-DFB7-4C32-B037-C52668740C78}"/>
                </a:ext>
              </a:extLst>
            </p:cNvPr>
            <p:cNvSpPr/>
            <p:nvPr/>
          </p:nvSpPr>
          <p:spPr>
            <a:xfrm>
              <a:off x="4633026" y="1766949"/>
              <a:ext cx="1277958" cy="293421"/>
            </a:xfrm>
            <a:prstGeom prst="round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生产数据平台</a:t>
              </a:r>
            </a:p>
          </p:txBody>
        </p:sp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F3748183-4549-445F-A4D1-83C6519F52FF}"/>
                </a:ext>
              </a:extLst>
            </p:cNvPr>
            <p:cNvSpPr/>
            <p:nvPr/>
          </p:nvSpPr>
          <p:spPr>
            <a:xfrm>
              <a:off x="4633026" y="2133496"/>
              <a:ext cx="1277958" cy="304800"/>
            </a:xfrm>
            <a:prstGeom prst="roundRect">
              <a:avLst/>
            </a:prstGeom>
            <a:ln>
              <a:solidFill>
                <a:schemeClr val="bg2">
                  <a:lumMod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结构化数据存储</a:t>
              </a:r>
            </a:p>
          </p:txBody>
        </p:sp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FA3298CA-9EC1-496B-92E9-2C94ADE4AD42}"/>
                </a:ext>
              </a:extLst>
            </p:cNvPr>
            <p:cNvSpPr/>
            <p:nvPr/>
          </p:nvSpPr>
          <p:spPr>
            <a:xfrm>
              <a:off x="4633026" y="2477303"/>
              <a:ext cx="1277958" cy="304426"/>
            </a:xfrm>
            <a:prstGeom prst="roundRect">
              <a:avLst/>
            </a:prstGeom>
            <a:ln>
              <a:solidFill>
                <a:schemeClr val="bg2">
                  <a:lumMod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结构化数据检索</a:t>
              </a:r>
            </a:p>
          </p:txBody>
        </p: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AE4AD74B-7F75-44C0-B7FE-B99A48A5643C}"/>
                </a:ext>
              </a:extLst>
            </p:cNvPr>
            <p:cNvSpPr/>
            <p:nvPr/>
          </p:nvSpPr>
          <p:spPr>
            <a:xfrm>
              <a:off x="4633026" y="2823086"/>
              <a:ext cx="1277958" cy="302327"/>
            </a:xfrm>
            <a:prstGeom prst="roundRect">
              <a:avLst/>
            </a:prstGeom>
            <a:ln>
              <a:solidFill>
                <a:schemeClr val="bg2">
                  <a:lumMod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DashBoard</a:t>
              </a:r>
              <a:b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可视化界面生成</a:t>
              </a:r>
            </a:p>
          </p:txBody>
        </p:sp>
      </p:grpSp>
      <p:sp>
        <p:nvSpPr>
          <p:cNvPr id="73" name="箭头: 下 72">
            <a:extLst>
              <a:ext uri="{FF2B5EF4-FFF2-40B4-BE49-F238E27FC236}">
                <a16:creationId xmlns:a16="http://schemas.microsoft.com/office/drawing/2014/main" id="{78103609-7726-4B9A-92D9-E68A4FF3721D}"/>
              </a:ext>
            </a:extLst>
          </p:cNvPr>
          <p:cNvSpPr/>
          <p:nvPr/>
        </p:nvSpPr>
        <p:spPr>
          <a:xfrm rot="10800000">
            <a:off x="5953496" y="3570750"/>
            <a:ext cx="285008" cy="205366"/>
          </a:xfrm>
          <a:prstGeom prst="down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4" name="箭头: 下 73">
            <a:extLst>
              <a:ext uri="{FF2B5EF4-FFF2-40B4-BE49-F238E27FC236}">
                <a16:creationId xmlns:a16="http://schemas.microsoft.com/office/drawing/2014/main" id="{53D3A76B-7BCA-46C1-9D4D-F5B323DCA6B6}"/>
              </a:ext>
            </a:extLst>
          </p:cNvPr>
          <p:cNvSpPr/>
          <p:nvPr/>
        </p:nvSpPr>
        <p:spPr>
          <a:xfrm rot="10800000">
            <a:off x="5953496" y="1380027"/>
            <a:ext cx="285008" cy="205366"/>
          </a:xfrm>
          <a:prstGeom prst="down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0570DFE7-E304-488E-B5D9-8630667617A3}"/>
              </a:ext>
            </a:extLst>
          </p:cNvPr>
          <p:cNvSpPr txBox="1"/>
          <p:nvPr/>
        </p:nvSpPr>
        <p:spPr>
          <a:xfrm>
            <a:off x="1021278" y="5136078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产品图</a:t>
            </a:r>
            <a:r>
              <a:rPr lang="en-US" altLang="zh-CN" dirty="0"/>
              <a:t>1.0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21214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839020FD-7487-4308-B957-80F045872B9C}"/>
              </a:ext>
            </a:extLst>
          </p:cNvPr>
          <p:cNvSpPr/>
          <p:nvPr/>
        </p:nvSpPr>
        <p:spPr>
          <a:xfrm>
            <a:off x="2119251" y="1610513"/>
            <a:ext cx="7309757" cy="192239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5A6E5BE9-86D3-40D4-8F43-08AA8C2BED4E}"/>
              </a:ext>
            </a:extLst>
          </p:cNvPr>
          <p:cNvSpPr/>
          <p:nvPr/>
        </p:nvSpPr>
        <p:spPr>
          <a:xfrm>
            <a:off x="5537859" y="1691728"/>
            <a:ext cx="3055967" cy="173727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E0F852AA-6C2C-4E57-80CE-CC5BA90899AF}"/>
              </a:ext>
            </a:extLst>
          </p:cNvPr>
          <p:cNvSpPr/>
          <p:nvPr/>
        </p:nvSpPr>
        <p:spPr>
          <a:xfrm>
            <a:off x="2591542" y="693423"/>
            <a:ext cx="6572992" cy="66148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2FB0322-E3B1-45A4-B589-D90FF2042AC6}"/>
              </a:ext>
            </a:extLst>
          </p:cNvPr>
          <p:cNvSpPr/>
          <p:nvPr/>
        </p:nvSpPr>
        <p:spPr>
          <a:xfrm>
            <a:off x="2591542" y="3812265"/>
            <a:ext cx="6572992" cy="94854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C004112-1620-46D7-93CB-675BB328CCE3}"/>
              </a:ext>
            </a:extLst>
          </p:cNvPr>
          <p:cNvSpPr/>
          <p:nvPr/>
        </p:nvSpPr>
        <p:spPr>
          <a:xfrm>
            <a:off x="2832270" y="4081934"/>
            <a:ext cx="961902" cy="39782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多模态大模型推理调度引擎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C17AA5A-64DF-4462-8815-C6498C0A58F1}"/>
              </a:ext>
            </a:extLst>
          </p:cNvPr>
          <p:cNvSpPr/>
          <p:nvPr/>
        </p:nvSpPr>
        <p:spPr>
          <a:xfrm>
            <a:off x="4135835" y="4081934"/>
            <a:ext cx="1355767" cy="39782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智能体引擎</a:t>
            </a:r>
            <a:endParaRPr lang="en-US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（编排、调度、执行）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DBFF26B-63A1-4484-9F23-F90B7243CE56}"/>
              </a:ext>
            </a:extLst>
          </p:cNvPr>
          <p:cNvSpPr/>
          <p:nvPr/>
        </p:nvSpPr>
        <p:spPr>
          <a:xfrm>
            <a:off x="5833265" y="4081934"/>
            <a:ext cx="863930" cy="39782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工具引擎</a:t>
            </a:r>
            <a:endParaRPr lang="en-US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MCP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等）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58DA759-291F-44AB-A368-8482A07D7215}"/>
              </a:ext>
            </a:extLst>
          </p:cNvPr>
          <p:cNvSpPr/>
          <p:nvPr/>
        </p:nvSpPr>
        <p:spPr>
          <a:xfrm>
            <a:off x="7038858" y="4081934"/>
            <a:ext cx="759030" cy="39782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851E7EC-4C6E-4EEF-AF59-55C5D989F787}"/>
              </a:ext>
            </a:extLst>
          </p:cNvPr>
          <p:cNvSpPr/>
          <p:nvPr/>
        </p:nvSpPr>
        <p:spPr>
          <a:xfrm>
            <a:off x="8139552" y="4081934"/>
            <a:ext cx="759030" cy="39782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文件系统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9DBE3DC-A78F-4BED-A5A0-5387BD9764BA}"/>
              </a:ext>
            </a:extLst>
          </p:cNvPr>
          <p:cNvSpPr/>
          <p:nvPr/>
        </p:nvSpPr>
        <p:spPr>
          <a:xfrm>
            <a:off x="5657315" y="1766949"/>
            <a:ext cx="1418731" cy="293421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云端操作助手（企业级）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19E7C0D1-1A4E-4CE5-AD4E-8D45C4BBFCB8}"/>
              </a:ext>
            </a:extLst>
          </p:cNvPr>
          <p:cNvSpPr/>
          <p:nvPr/>
        </p:nvSpPr>
        <p:spPr>
          <a:xfrm>
            <a:off x="5777471" y="2119197"/>
            <a:ext cx="1178418" cy="304800"/>
          </a:xfrm>
          <a:prstGeom prst="roundRect">
            <a:avLst/>
          </a:prstGeom>
          <a:ln>
            <a:solidFill>
              <a:schemeClr val="bg2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 UI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自动化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0A8A6DA-A731-4D53-87FA-3B0FF9C1EC3A}"/>
              </a:ext>
            </a:extLst>
          </p:cNvPr>
          <p:cNvSpPr/>
          <p:nvPr/>
        </p:nvSpPr>
        <p:spPr>
          <a:xfrm>
            <a:off x="5777471" y="2977459"/>
            <a:ext cx="1178419" cy="302327"/>
          </a:xfrm>
          <a:prstGeom prst="roundRect">
            <a:avLst/>
          </a:prstGeom>
          <a:ln>
            <a:solidFill>
              <a:schemeClr val="bg2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接口自动化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631BE818-1B59-4FAA-AEEF-070020C98AA5}"/>
              </a:ext>
            </a:extLst>
          </p:cNvPr>
          <p:cNvSpPr/>
          <p:nvPr/>
        </p:nvSpPr>
        <p:spPr>
          <a:xfrm>
            <a:off x="5777471" y="2548328"/>
            <a:ext cx="1178419" cy="304800"/>
          </a:xfrm>
          <a:prstGeom prst="roundRect">
            <a:avLst/>
          </a:prstGeom>
          <a:ln>
            <a:solidFill>
              <a:schemeClr val="bg2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规则引擎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EEB8F37-A377-4A30-8F4A-FDCC4B62A3AF}"/>
              </a:ext>
            </a:extLst>
          </p:cNvPr>
          <p:cNvSpPr/>
          <p:nvPr/>
        </p:nvSpPr>
        <p:spPr>
          <a:xfrm>
            <a:off x="7154883" y="1766949"/>
            <a:ext cx="1261564" cy="293421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端侧操作助手（个人）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62A9C087-8C8B-448B-8F88-AF1A9192EAE4}"/>
              </a:ext>
            </a:extLst>
          </p:cNvPr>
          <p:cNvSpPr/>
          <p:nvPr/>
        </p:nvSpPr>
        <p:spPr>
          <a:xfrm>
            <a:off x="7196456" y="2119197"/>
            <a:ext cx="1178418" cy="293422"/>
          </a:xfrm>
          <a:prstGeom prst="roundRect">
            <a:avLst/>
          </a:prstGeom>
          <a:ln>
            <a:solidFill>
              <a:schemeClr val="bg2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HID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人机接口设备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3D4DD3D-80C3-40D5-9479-330A160F7125}"/>
              </a:ext>
            </a:extLst>
          </p:cNvPr>
          <p:cNvSpPr/>
          <p:nvPr/>
        </p:nvSpPr>
        <p:spPr>
          <a:xfrm>
            <a:off x="7196456" y="2977459"/>
            <a:ext cx="1178419" cy="302327"/>
          </a:xfrm>
          <a:prstGeom prst="roundRect">
            <a:avLst/>
          </a:prstGeom>
          <a:ln>
            <a:solidFill>
              <a:schemeClr val="bg2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接口自动化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430AFA46-56CD-454E-B431-B39CA52DAB83}"/>
              </a:ext>
            </a:extLst>
          </p:cNvPr>
          <p:cNvSpPr/>
          <p:nvPr/>
        </p:nvSpPr>
        <p:spPr>
          <a:xfrm>
            <a:off x="7196456" y="2542639"/>
            <a:ext cx="1178419" cy="304800"/>
          </a:xfrm>
          <a:prstGeom prst="roundRect">
            <a:avLst/>
          </a:prstGeom>
          <a:ln>
            <a:solidFill>
              <a:schemeClr val="bg2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规则引擎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E45B0D11-AEF7-4C9E-B796-A6CB25E18F1A}"/>
              </a:ext>
            </a:extLst>
          </p:cNvPr>
          <p:cNvSpPr/>
          <p:nvPr/>
        </p:nvSpPr>
        <p:spPr>
          <a:xfrm>
            <a:off x="3384996" y="877454"/>
            <a:ext cx="2047932" cy="29342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CUI 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对话式用户界面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65440D69-A762-4802-928A-398B63B2010E}"/>
              </a:ext>
            </a:extLst>
          </p:cNvPr>
          <p:cNvSpPr/>
          <p:nvPr/>
        </p:nvSpPr>
        <p:spPr>
          <a:xfrm>
            <a:off x="6364747" y="882227"/>
            <a:ext cx="2047932" cy="29342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业务应用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15ECB2F6-3501-48E4-B312-9BCAE52C0ACF}"/>
              </a:ext>
            </a:extLst>
          </p:cNvPr>
          <p:cNvSpPr/>
          <p:nvPr/>
        </p:nvSpPr>
        <p:spPr>
          <a:xfrm>
            <a:off x="8842186" y="1691728"/>
            <a:ext cx="273139" cy="17669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原有信息系统</a:t>
            </a:r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数据系统</a:t>
            </a:r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环境</a:t>
            </a:r>
          </a:p>
        </p:txBody>
      </p:sp>
      <p:sp>
        <p:nvSpPr>
          <p:cNvPr id="41" name="箭头: 下 40">
            <a:extLst>
              <a:ext uri="{FF2B5EF4-FFF2-40B4-BE49-F238E27FC236}">
                <a16:creationId xmlns:a16="http://schemas.microsoft.com/office/drawing/2014/main" id="{9BAFC23F-AB97-4EA3-A332-F171A4E138F1}"/>
              </a:ext>
            </a:extLst>
          </p:cNvPr>
          <p:cNvSpPr/>
          <p:nvPr/>
        </p:nvSpPr>
        <p:spPr>
          <a:xfrm rot="5400000">
            <a:off x="8568464" y="2434465"/>
            <a:ext cx="285008" cy="205366"/>
          </a:xfrm>
          <a:prstGeom prst="down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B3565223-1E99-42A6-88E9-73CFCE39D6D4}"/>
              </a:ext>
            </a:extLst>
          </p:cNvPr>
          <p:cNvSpPr/>
          <p:nvPr/>
        </p:nvSpPr>
        <p:spPr>
          <a:xfrm>
            <a:off x="2413163" y="1766949"/>
            <a:ext cx="1285288" cy="293421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知识库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69D49DC6-AD0B-4ED6-8A67-85C9B3F7DDDF}"/>
              </a:ext>
            </a:extLst>
          </p:cNvPr>
          <p:cNvSpPr/>
          <p:nvPr/>
        </p:nvSpPr>
        <p:spPr>
          <a:xfrm>
            <a:off x="2416828" y="2119197"/>
            <a:ext cx="1277958" cy="332509"/>
          </a:xfrm>
          <a:prstGeom prst="roundRect">
            <a:avLst/>
          </a:prstGeom>
          <a:ln>
            <a:solidFill>
              <a:schemeClr val="bg2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非结构化文件存储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5131A990-C573-48CE-AA5B-FEE7A4F4F648}"/>
              </a:ext>
            </a:extLst>
          </p:cNvPr>
          <p:cNvSpPr/>
          <p:nvPr/>
        </p:nvSpPr>
        <p:spPr>
          <a:xfrm>
            <a:off x="2416828" y="2552310"/>
            <a:ext cx="1277958" cy="295129"/>
          </a:xfrm>
          <a:prstGeom prst="roundRect">
            <a:avLst/>
          </a:prstGeom>
          <a:ln>
            <a:solidFill>
              <a:schemeClr val="bg2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相似度检索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7DAEEAF-DFB7-4C32-B037-C52668740C78}"/>
              </a:ext>
            </a:extLst>
          </p:cNvPr>
          <p:cNvSpPr/>
          <p:nvPr/>
        </p:nvSpPr>
        <p:spPr>
          <a:xfrm>
            <a:off x="3932381" y="1766949"/>
            <a:ext cx="1277958" cy="293421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生产数据平台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F3748183-4549-445F-A4D1-83C6519F52FF}"/>
              </a:ext>
            </a:extLst>
          </p:cNvPr>
          <p:cNvSpPr/>
          <p:nvPr/>
        </p:nvSpPr>
        <p:spPr>
          <a:xfrm>
            <a:off x="3932381" y="2119197"/>
            <a:ext cx="1277958" cy="304800"/>
          </a:xfrm>
          <a:prstGeom prst="roundRect">
            <a:avLst/>
          </a:prstGeom>
          <a:ln>
            <a:solidFill>
              <a:schemeClr val="bg2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结构化数据存储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FA3298CA-9EC1-496B-92E9-2C94ADE4AD42}"/>
              </a:ext>
            </a:extLst>
          </p:cNvPr>
          <p:cNvSpPr/>
          <p:nvPr/>
        </p:nvSpPr>
        <p:spPr>
          <a:xfrm>
            <a:off x="3932381" y="2548515"/>
            <a:ext cx="1277958" cy="304426"/>
          </a:xfrm>
          <a:prstGeom prst="roundRect">
            <a:avLst/>
          </a:prstGeom>
          <a:ln>
            <a:solidFill>
              <a:schemeClr val="bg2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结构化数据检索</a:t>
            </a: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AE4AD74B-7F75-44C0-B7FE-B99A48A5643C}"/>
              </a:ext>
            </a:extLst>
          </p:cNvPr>
          <p:cNvSpPr/>
          <p:nvPr/>
        </p:nvSpPr>
        <p:spPr>
          <a:xfrm>
            <a:off x="3932381" y="2977459"/>
            <a:ext cx="1277958" cy="302327"/>
          </a:xfrm>
          <a:prstGeom prst="roundRect">
            <a:avLst/>
          </a:prstGeom>
          <a:ln>
            <a:solidFill>
              <a:schemeClr val="bg2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DashBoard</a:t>
            </a:r>
            <a:b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可视化界面生成</a:t>
            </a:r>
          </a:p>
        </p:txBody>
      </p:sp>
      <p:sp>
        <p:nvSpPr>
          <p:cNvPr id="73" name="箭头: 下 72">
            <a:extLst>
              <a:ext uri="{FF2B5EF4-FFF2-40B4-BE49-F238E27FC236}">
                <a16:creationId xmlns:a16="http://schemas.microsoft.com/office/drawing/2014/main" id="{78103609-7726-4B9A-92D9-E68A4FF3721D}"/>
              </a:ext>
            </a:extLst>
          </p:cNvPr>
          <p:cNvSpPr/>
          <p:nvPr/>
        </p:nvSpPr>
        <p:spPr>
          <a:xfrm rot="10800000">
            <a:off x="5735534" y="3570750"/>
            <a:ext cx="285008" cy="205366"/>
          </a:xfrm>
          <a:prstGeom prst="down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4" name="箭头: 下 73">
            <a:extLst>
              <a:ext uri="{FF2B5EF4-FFF2-40B4-BE49-F238E27FC236}">
                <a16:creationId xmlns:a16="http://schemas.microsoft.com/office/drawing/2014/main" id="{53D3A76B-7BCA-46C1-9D4D-F5B323DCA6B6}"/>
              </a:ext>
            </a:extLst>
          </p:cNvPr>
          <p:cNvSpPr/>
          <p:nvPr/>
        </p:nvSpPr>
        <p:spPr>
          <a:xfrm rot="10800000">
            <a:off x="5735534" y="1380027"/>
            <a:ext cx="285008" cy="205366"/>
          </a:xfrm>
          <a:prstGeom prst="down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0570DFE7-E304-488E-B5D9-8630667617A3}"/>
              </a:ext>
            </a:extLst>
          </p:cNvPr>
          <p:cNvSpPr txBox="1"/>
          <p:nvPr/>
        </p:nvSpPr>
        <p:spPr>
          <a:xfrm>
            <a:off x="1021278" y="5136078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产品图</a:t>
            </a:r>
            <a:r>
              <a:rPr lang="en-US" altLang="zh-CN" dirty="0"/>
              <a:t>2.0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3364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839020FD-7487-4308-B957-80F045872B9C}"/>
              </a:ext>
            </a:extLst>
          </p:cNvPr>
          <p:cNvSpPr/>
          <p:nvPr/>
        </p:nvSpPr>
        <p:spPr>
          <a:xfrm>
            <a:off x="2601979" y="1323490"/>
            <a:ext cx="6572993" cy="357588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E0F852AA-6C2C-4E57-80CE-CC5BA90899AF}"/>
              </a:ext>
            </a:extLst>
          </p:cNvPr>
          <p:cNvSpPr/>
          <p:nvPr/>
        </p:nvSpPr>
        <p:spPr>
          <a:xfrm>
            <a:off x="2591542" y="349038"/>
            <a:ext cx="6572992" cy="66148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2FB0322-E3B1-45A4-B589-D90FF2042AC6}"/>
              </a:ext>
            </a:extLst>
          </p:cNvPr>
          <p:cNvSpPr/>
          <p:nvPr/>
        </p:nvSpPr>
        <p:spPr>
          <a:xfrm>
            <a:off x="2591542" y="5136368"/>
            <a:ext cx="6572992" cy="94854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C004112-1620-46D7-93CB-675BB328CCE3}"/>
              </a:ext>
            </a:extLst>
          </p:cNvPr>
          <p:cNvSpPr/>
          <p:nvPr/>
        </p:nvSpPr>
        <p:spPr>
          <a:xfrm>
            <a:off x="2832270" y="5406037"/>
            <a:ext cx="961902" cy="39782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多模态大模型推理调度引擎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C17AA5A-64DF-4462-8815-C6498C0A58F1}"/>
              </a:ext>
            </a:extLst>
          </p:cNvPr>
          <p:cNvSpPr/>
          <p:nvPr/>
        </p:nvSpPr>
        <p:spPr>
          <a:xfrm>
            <a:off x="4135835" y="5406037"/>
            <a:ext cx="1355767" cy="39782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智能体引擎</a:t>
            </a:r>
            <a:endParaRPr lang="en-US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（编排、调度、执行）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DBFF26B-63A1-4484-9F23-F90B7243CE56}"/>
              </a:ext>
            </a:extLst>
          </p:cNvPr>
          <p:cNvSpPr/>
          <p:nvPr/>
        </p:nvSpPr>
        <p:spPr>
          <a:xfrm>
            <a:off x="5833265" y="5406037"/>
            <a:ext cx="863930" cy="39782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工具引擎</a:t>
            </a:r>
            <a:endParaRPr lang="en-US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MCP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等）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58DA759-291F-44AB-A368-8482A07D7215}"/>
              </a:ext>
            </a:extLst>
          </p:cNvPr>
          <p:cNvSpPr/>
          <p:nvPr/>
        </p:nvSpPr>
        <p:spPr>
          <a:xfrm>
            <a:off x="7038858" y="5406037"/>
            <a:ext cx="759030" cy="39782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851E7EC-4C6E-4EEF-AF59-55C5D989F787}"/>
              </a:ext>
            </a:extLst>
          </p:cNvPr>
          <p:cNvSpPr/>
          <p:nvPr/>
        </p:nvSpPr>
        <p:spPr>
          <a:xfrm>
            <a:off x="8139552" y="5406037"/>
            <a:ext cx="759030" cy="39782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文件系统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5A6E5BE9-86D3-40D4-8F43-08AA8C2BED4E}"/>
              </a:ext>
            </a:extLst>
          </p:cNvPr>
          <p:cNvSpPr/>
          <p:nvPr/>
        </p:nvSpPr>
        <p:spPr>
          <a:xfrm>
            <a:off x="5179909" y="1553978"/>
            <a:ext cx="1496718" cy="89834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9DBE3DC-A78F-4BED-A5A0-5387BD9764BA}"/>
              </a:ext>
            </a:extLst>
          </p:cNvPr>
          <p:cNvSpPr/>
          <p:nvPr/>
        </p:nvSpPr>
        <p:spPr>
          <a:xfrm>
            <a:off x="5289273" y="1638177"/>
            <a:ext cx="1298870" cy="175619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云端操作助手（企业级）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19E7C0D1-1A4E-4CE5-AD4E-8D45C4BBFCB8}"/>
              </a:ext>
            </a:extLst>
          </p:cNvPr>
          <p:cNvSpPr/>
          <p:nvPr/>
        </p:nvSpPr>
        <p:spPr>
          <a:xfrm>
            <a:off x="5399277" y="1853374"/>
            <a:ext cx="1078860" cy="149305"/>
          </a:xfrm>
          <a:prstGeom prst="roundRect">
            <a:avLst/>
          </a:prstGeom>
          <a:ln>
            <a:solidFill>
              <a:schemeClr val="bg2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 UI</a:t>
            </a: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自动化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0A8A6DA-A731-4D53-87FA-3B0FF9C1EC3A}"/>
              </a:ext>
            </a:extLst>
          </p:cNvPr>
          <p:cNvSpPr/>
          <p:nvPr/>
        </p:nvSpPr>
        <p:spPr>
          <a:xfrm>
            <a:off x="5399277" y="2231140"/>
            <a:ext cx="1078860" cy="148094"/>
          </a:xfrm>
          <a:prstGeom prst="roundRect">
            <a:avLst/>
          </a:prstGeom>
          <a:ln>
            <a:solidFill>
              <a:schemeClr val="bg2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接口自动化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631BE818-1B59-4FAA-AEEF-070020C98AA5}"/>
              </a:ext>
            </a:extLst>
          </p:cNvPr>
          <p:cNvSpPr/>
          <p:nvPr/>
        </p:nvSpPr>
        <p:spPr>
          <a:xfrm>
            <a:off x="5399277" y="2042257"/>
            <a:ext cx="1078860" cy="149305"/>
          </a:xfrm>
          <a:prstGeom prst="roundRect">
            <a:avLst/>
          </a:prstGeom>
          <a:ln>
            <a:solidFill>
              <a:schemeClr val="bg2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规则引擎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E45B0D11-AEF7-4C9E-B796-A6CB25E18F1A}"/>
              </a:ext>
            </a:extLst>
          </p:cNvPr>
          <p:cNvSpPr/>
          <p:nvPr/>
        </p:nvSpPr>
        <p:spPr>
          <a:xfrm>
            <a:off x="3384996" y="533069"/>
            <a:ext cx="1329508" cy="29342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CUI 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对话式用户界面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65440D69-A762-4802-928A-398B63B2010E}"/>
              </a:ext>
            </a:extLst>
          </p:cNvPr>
          <p:cNvSpPr/>
          <p:nvPr/>
        </p:nvSpPr>
        <p:spPr>
          <a:xfrm>
            <a:off x="7003863" y="539797"/>
            <a:ext cx="1452672" cy="29342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业务应用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15ECB2F6-3501-48E4-B312-9BCAE52C0ACF}"/>
              </a:ext>
            </a:extLst>
          </p:cNvPr>
          <p:cNvSpPr/>
          <p:nvPr/>
        </p:nvSpPr>
        <p:spPr>
          <a:xfrm>
            <a:off x="7209558" y="1807333"/>
            <a:ext cx="970655" cy="414179"/>
          </a:xfrm>
          <a:prstGeom prst="round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原有信息系统、数据系统、环境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CD212A17-AD00-4106-AC40-1FB72DEE9A5C}"/>
              </a:ext>
            </a:extLst>
          </p:cNvPr>
          <p:cNvGrpSpPr/>
          <p:nvPr/>
        </p:nvGrpSpPr>
        <p:grpSpPr>
          <a:xfrm>
            <a:off x="6918218" y="3652996"/>
            <a:ext cx="1163815" cy="1106935"/>
            <a:chOff x="5332021" y="5043285"/>
            <a:chExt cx="1567543" cy="1722835"/>
          </a:xfrm>
        </p:grpSpPr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130E8314-B1B3-45B1-8AE1-04BC33B21343}"/>
                </a:ext>
              </a:extLst>
            </p:cNvPr>
            <p:cNvSpPr/>
            <p:nvPr/>
          </p:nvSpPr>
          <p:spPr>
            <a:xfrm>
              <a:off x="5332021" y="5043285"/>
              <a:ext cx="1567543" cy="1722835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C7DAEEAF-DFB7-4C32-B037-C52668740C78}"/>
                </a:ext>
              </a:extLst>
            </p:cNvPr>
            <p:cNvSpPr/>
            <p:nvPr/>
          </p:nvSpPr>
          <p:spPr>
            <a:xfrm>
              <a:off x="5457021" y="5136078"/>
              <a:ext cx="1277958" cy="293421"/>
            </a:xfrm>
            <a:prstGeom prst="round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生产数据平台</a:t>
              </a:r>
            </a:p>
          </p:txBody>
        </p:sp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F3748183-4549-445F-A4D1-83C6519F52FF}"/>
                </a:ext>
              </a:extLst>
            </p:cNvPr>
            <p:cNvSpPr/>
            <p:nvPr/>
          </p:nvSpPr>
          <p:spPr>
            <a:xfrm>
              <a:off x="5457021" y="5507477"/>
              <a:ext cx="1277958" cy="304799"/>
            </a:xfrm>
            <a:prstGeom prst="roundRect">
              <a:avLst/>
            </a:prstGeom>
            <a:ln>
              <a:solidFill>
                <a:schemeClr val="bg2">
                  <a:lumMod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结构化数据存储</a:t>
              </a:r>
            </a:p>
          </p:txBody>
        </p:sp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FA3298CA-9EC1-496B-92E9-2C94ADE4AD42}"/>
                </a:ext>
              </a:extLst>
            </p:cNvPr>
            <p:cNvSpPr/>
            <p:nvPr/>
          </p:nvSpPr>
          <p:spPr>
            <a:xfrm>
              <a:off x="5457021" y="5890255"/>
              <a:ext cx="1277958" cy="304426"/>
            </a:xfrm>
            <a:prstGeom prst="roundRect">
              <a:avLst/>
            </a:prstGeom>
            <a:ln>
              <a:solidFill>
                <a:schemeClr val="bg2">
                  <a:lumMod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结构化数据检索</a:t>
              </a:r>
            </a:p>
          </p:txBody>
        </p: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AE4AD74B-7F75-44C0-B7FE-B99A48A5643C}"/>
                </a:ext>
              </a:extLst>
            </p:cNvPr>
            <p:cNvSpPr/>
            <p:nvPr/>
          </p:nvSpPr>
          <p:spPr>
            <a:xfrm>
              <a:off x="5457021" y="6272658"/>
              <a:ext cx="1277958" cy="419533"/>
            </a:xfrm>
            <a:prstGeom prst="roundRect">
              <a:avLst/>
            </a:prstGeom>
            <a:ln>
              <a:solidFill>
                <a:schemeClr val="bg2">
                  <a:lumMod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DashBoard</a:t>
              </a:r>
              <a:br>
                <a:rPr lang="en-US" altLang="zh-CN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可视化界面生成</a:t>
              </a:r>
            </a:p>
          </p:txBody>
        </p:sp>
      </p:grpSp>
      <p:sp>
        <p:nvSpPr>
          <p:cNvPr id="73" name="箭头: 下 72">
            <a:extLst>
              <a:ext uri="{FF2B5EF4-FFF2-40B4-BE49-F238E27FC236}">
                <a16:creationId xmlns:a16="http://schemas.microsoft.com/office/drawing/2014/main" id="{78103609-7726-4B9A-92D9-E68A4FF3721D}"/>
              </a:ext>
            </a:extLst>
          </p:cNvPr>
          <p:cNvSpPr/>
          <p:nvPr/>
        </p:nvSpPr>
        <p:spPr>
          <a:xfrm rot="10800000">
            <a:off x="5735534" y="4894853"/>
            <a:ext cx="285008" cy="205366"/>
          </a:xfrm>
          <a:prstGeom prst="down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4" name="箭头: 下 73">
            <a:extLst>
              <a:ext uri="{FF2B5EF4-FFF2-40B4-BE49-F238E27FC236}">
                <a16:creationId xmlns:a16="http://schemas.microsoft.com/office/drawing/2014/main" id="{53D3A76B-7BCA-46C1-9D4D-F5B323DCA6B6}"/>
              </a:ext>
            </a:extLst>
          </p:cNvPr>
          <p:cNvSpPr/>
          <p:nvPr/>
        </p:nvSpPr>
        <p:spPr>
          <a:xfrm rot="10800000">
            <a:off x="5735534" y="1035642"/>
            <a:ext cx="285008" cy="205366"/>
          </a:xfrm>
          <a:prstGeom prst="down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0570DFE7-E304-488E-B5D9-8630667617A3}"/>
              </a:ext>
            </a:extLst>
          </p:cNvPr>
          <p:cNvSpPr txBox="1"/>
          <p:nvPr/>
        </p:nvSpPr>
        <p:spPr>
          <a:xfrm>
            <a:off x="1021278" y="6121732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产品图</a:t>
            </a:r>
            <a:r>
              <a:rPr lang="en-US" altLang="zh-CN" dirty="0"/>
              <a:t>3.0</a:t>
            </a:r>
            <a:endParaRPr lang="zh-CN" altLang="en-US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A15EE0F-93C2-41F1-80D5-227DBBC80096}"/>
              </a:ext>
            </a:extLst>
          </p:cNvPr>
          <p:cNvGrpSpPr/>
          <p:nvPr/>
        </p:nvGrpSpPr>
        <p:grpSpPr>
          <a:xfrm>
            <a:off x="3910234" y="3645186"/>
            <a:ext cx="1076960" cy="1103989"/>
            <a:chOff x="3151634" y="5351664"/>
            <a:chExt cx="1426304" cy="1344495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C3137BDC-6812-4E81-AD9C-5BBCCE2D83A1}"/>
                </a:ext>
              </a:extLst>
            </p:cNvPr>
            <p:cNvSpPr/>
            <p:nvPr/>
          </p:nvSpPr>
          <p:spPr>
            <a:xfrm>
              <a:off x="3151634" y="5351664"/>
              <a:ext cx="1426304" cy="1344495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36DB1AA6-ED1F-40D8-9BC0-9084ED8051F6}"/>
                </a:ext>
              </a:extLst>
            </p:cNvPr>
            <p:cNvSpPr/>
            <p:nvPr/>
          </p:nvSpPr>
          <p:spPr>
            <a:xfrm>
              <a:off x="3223029" y="5513935"/>
              <a:ext cx="1285288" cy="293421"/>
            </a:xfrm>
            <a:prstGeom prst="round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知识库</a:t>
              </a:r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DD5E25E7-0365-486F-9B4B-00BF00AFF6EC}"/>
                </a:ext>
              </a:extLst>
            </p:cNvPr>
            <p:cNvSpPr/>
            <p:nvPr/>
          </p:nvSpPr>
          <p:spPr>
            <a:xfrm>
              <a:off x="3184863" y="5854886"/>
              <a:ext cx="1361619" cy="388355"/>
            </a:xfrm>
            <a:prstGeom prst="roundRect">
              <a:avLst/>
            </a:prstGeom>
            <a:ln>
              <a:solidFill>
                <a:schemeClr val="bg2">
                  <a:lumMod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非结构化文件存储</a:t>
              </a:r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07D4867F-BA76-41FB-BEBB-42B82A2297D5}"/>
                </a:ext>
              </a:extLst>
            </p:cNvPr>
            <p:cNvSpPr/>
            <p:nvPr/>
          </p:nvSpPr>
          <p:spPr>
            <a:xfrm>
              <a:off x="3223029" y="6290771"/>
              <a:ext cx="1285288" cy="295129"/>
            </a:xfrm>
            <a:prstGeom prst="roundRect">
              <a:avLst/>
            </a:prstGeom>
            <a:ln>
              <a:solidFill>
                <a:schemeClr val="bg2">
                  <a:lumMod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相似度检索</a:t>
              </a:r>
            </a:p>
          </p:txBody>
        </p:sp>
      </p:grpSp>
      <p:pic>
        <p:nvPicPr>
          <p:cNvPr id="14" name="图形 13" descr="用户">
            <a:extLst>
              <a:ext uri="{FF2B5EF4-FFF2-40B4-BE49-F238E27FC236}">
                <a16:creationId xmlns:a16="http://schemas.microsoft.com/office/drawing/2014/main" id="{05477C5B-B958-439D-A979-BE82C9320D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05065" y="2952150"/>
            <a:ext cx="581837" cy="581837"/>
          </a:xfrm>
          <a:prstGeom prst="rect">
            <a:avLst/>
          </a:prstGeom>
        </p:spPr>
      </p:pic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C77B0699-2836-4ADC-B46F-42E8CB98F50F}"/>
              </a:ext>
            </a:extLst>
          </p:cNvPr>
          <p:cNvCxnSpPr>
            <a:cxnSpLocks/>
            <a:stCxn id="14" idx="0"/>
            <a:endCxn id="2" idx="2"/>
          </p:cNvCxnSpPr>
          <p:nvPr/>
        </p:nvCxnSpPr>
        <p:spPr>
          <a:xfrm flipV="1">
            <a:off x="5895984" y="2452326"/>
            <a:ext cx="32284" cy="499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D3032CB5-E0D4-454C-95D1-8744F4D65CCF}"/>
              </a:ext>
            </a:extLst>
          </p:cNvPr>
          <p:cNvCxnSpPr>
            <a:cxnSpLocks/>
            <a:stCxn id="14" idx="3"/>
            <a:endCxn id="39" idx="0"/>
          </p:cNvCxnSpPr>
          <p:nvPr/>
        </p:nvCxnSpPr>
        <p:spPr>
          <a:xfrm>
            <a:off x="6186902" y="3243069"/>
            <a:ext cx="1313224" cy="409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8FEF5C44-0BEA-44C1-BD03-4BAC2FC8C197}"/>
              </a:ext>
            </a:extLst>
          </p:cNvPr>
          <p:cNvCxnSpPr>
            <a:cxnSpLocks/>
            <a:stCxn id="14" idx="1"/>
            <a:endCxn id="36" idx="0"/>
          </p:cNvCxnSpPr>
          <p:nvPr/>
        </p:nvCxnSpPr>
        <p:spPr>
          <a:xfrm flipH="1">
            <a:off x="4448714" y="3243069"/>
            <a:ext cx="1156351" cy="402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F1429A2C-9F17-496A-B917-BE1C40AFE389}"/>
              </a:ext>
            </a:extLst>
          </p:cNvPr>
          <p:cNvCxnSpPr>
            <a:cxnSpLocks/>
            <a:stCxn id="36" idx="0"/>
            <a:endCxn id="2" idx="1"/>
          </p:cNvCxnSpPr>
          <p:nvPr/>
        </p:nvCxnSpPr>
        <p:spPr>
          <a:xfrm flipV="1">
            <a:off x="4448714" y="2003152"/>
            <a:ext cx="731195" cy="164203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027F4EA1-0DFC-4015-8CD0-EBB2FBBB421F}"/>
              </a:ext>
            </a:extLst>
          </p:cNvPr>
          <p:cNvCxnSpPr>
            <a:cxnSpLocks/>
            <a:stCxn id="2" idx="3"/>
            <a:endCxn id="40" idx="1"/>
          </p:cNvCxnSpPr>
          <p:nvPr/>
        </p:nvCxnSpPr>
        <p:spPr>
          <a:xfrm>
            <a:off x="6676627" y="2003152"/>
            <a:ext cx="532931" cy="112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3CE43D6A-C0BA-4B51-818B-DCF2EC1924FB}"/>
              </a:ext>
            </a:extLst>
          </p:cNvPr>
          <p:cNvSpPr/>
          <p:nvPr/>
        </p:nvSpPr>
        <p:spPr>
          <a:xfrm>
            <a:off x="5251984" y="537526"/>
            <a:ext cx="1214398" cy="29342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GUI</a:t>
            </a:r>
            <a:endParaRPr lang="zh-CN" altLang="en-US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2C27D911-C924-4EE3-95F0-C71997AFAE44}"/>
              </a:ext>
            </a:extLst>
          </p:cNvPr>
          <p:cNvSpPr/>
          <p:nvPr/>
        </p:nvSpPr>
        <p:spPr>
          <a:xfrm rot="17856263">
            <a:off x="4381351" y="2617224"/>
            <a:ext cx="661156" cy="159128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业务应用</a:t>
            </a:r>
          </a:p>
        </p:txBody>
      </p: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4F0BE541-EDDE-4422-8125-9B5008D9DF18}"/>
              </a:ext>
            </a:extLst>
          </p:cNvPr>
          <p:cNvCxnSpPr>
            <a:cxnSpLocks/>
            <a:endCxn id="2" idx="3"/>
          </p:cNvCxnSpPr>
          <p:nvPr/>
        </p:nvCxnSpPr>
        <p:spPr>
          <a:xfrm flipH="1" flipV="1">
            <a:off x="6676627" y="2003152"/>
            <a:ext cx="754674" cy="16216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39E416C9-19A0-4937-BE2C-69C32232CF02}"/>
              </a:ext>
            </a:extLst>
          </p:cNvPr>
          <p:cNvSpPr/>
          <p:nvPr/>
        </p:nvSpPr>
        <p:spPr>
          <a:xfrm rot="3837581">
            <a:off x="6828844" y="2619357"/>
            <a:ext cx="661156" cy="159128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业务应用</a:t>
            </a:r>
          </a:p>
        </p:txBody>
      </p:sp>
    </p:spTree>
    <p:extLst>
      <p:ext uri="{BB962C8B-B14F-4D97-AF65-F5344CB8AC3E}">
        <p14:creationId xmlns:p14="http://schemas.microsoft.com/office/powerpoint/2010/main" val="2086060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文本框 74">
            <a:extLst>
              <a:ext uri="{FF2B5EF4-FFF2-40B4-BE49-F238E27FC236}">
                <a16:creationId xmlns:a16="http://schemas.microsoft.com/office/drawing/2014/main" id="{0570DFE7-E304-488E-B5D9-8630667617A3}"/>
              </a:ext>
            </a:extLst>
          </p:cNvPr>
          <p:cNvSpPr txBox="1"/>
          <p:nvPr/>
        </p:nvSpPr>
        <p:spPr>
          <a:xfrm>
            <a:off x="1021278" y="6121732"/>
            <a:ext cx="2557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端侧操作助手架构图</a:t>
            </a:r>
            <a:r>
              <a:rPr lang="en-US" altLang="zh-CN" dirty="0"/>
              <a:t>1.0</a:t>
            </a:r>
            <a:endParaRPr lang="zh-CN" altLang="en-US" dirty="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7C55A3A-C571-4C51-9873-AE2971653AA4}"/>
              </a:ext>
            </a:extLst>
          </p:cNvPr>
          <p:cNvSpPr/>
          <p:nvPr/>
        </p:nvSpPr>
        <p:spPr>
          <a:xfrm>
            <a:off x="380003" y="631363"/>
            <a:ext cx="617517" cy="2731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教学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23DC2827-E6FB-4506-B112-3DC78668DECB}"/>
              </a:ext>
            </a:extLst>
          </p:cNvPr>
          <p:cNvSpPr/>
          <p:nvPr/>
        </p:nvSpPr>
        <p:spPr>
          <a:xfrm>
            <a:off x="1581390" y="631363"/>
            <a:ext cx="617517" cy="2731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D93D3D33-F7F6-4515-82A7-52C1F8C61AC8}"/>
              </a:ext>
            </a:extLst>
          </p:cNvPr>
          <p:cNvSpPr/>
          <p:nvPr/>
        </p:nvSpPr>
        <p:spPr>
          <a:xfrm>
            <a:off x="2782777" y="631363"/>
            <a:ext cx="617517" cy="2731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记忆</a:t>
            </a: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EC4EC906-020E-40E7-B03F-FF13ED329418}"/>
              </a:ext>
            </a:extLst>
          </p:cNvPr>
          <p:cNvSpPr/>
          <p:nvPr/>
        </p:nvSpPr>
        <p:spPr>
          <a:xfrm>
            <a:off x="3984164" y="631363"/>
            <a:ext cx="617517" cy="2731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5DDC8888-B7C1-48D3-B2A5-4F31F496503B}"/>
              </a:ext>
            </a:extLst>
          </p:cNvPr>
          <p:cNvCxnSpPr>
            <a:stCxn id="13" idx="3"/>
            <a:endCxn id="50" idx="1"/>
          </p:cNvCxnSpPr>
          <p:nvPr/>
        </p:nvCxnSpPr>
        <p:spPr>
          <a:xfrm>
            <a:off x="997520" y="767930"/>
            <a:ext cx="5838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894A59CD-C52F-4EA0-9D3F-F1B723389F29}"/>
              </a:ext>
            </a:extLst>
          </p:cNvPr>
          <p:cNvCxnSpPr>
            <a:cxnSpLocks/>
            <a:stCxn id="50" idx="3"/>
            <a:endCxn id="51" idx="1"/>
          </p:cNvCxnSpPr>
          <p:nvPr/>
        </p:nvCxnSpPr>
        <p:spPr>
          <a:xfrm>
            <a:off x="2198907" y="767930"/>
            <a:ext cx="5838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FE52B83E-AE0D-4416-878F-DF81384861AA}"/>
              </a:ext>
            </a:extLst>
          </p:cNvPr>
          <p:cNvCxnSpPr>
            <a:cxnSpLocks/>
            <a:stCxn id="51" idx="3"/>
            <a:endCxn id="52" idx="1"/>
          </p:cNvCxnSpPr>
          <p:nvPr/>
        </p:nvCxnSpPr>
        <p:spPr>
          <a:xfrm>
            <a:off x="3400294" y="767930"/>
            <a:ext cx="5838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74EB5BE0-BB82-494C-83F6-8EC6CCFCEF1A}"/>
              </a:ext>
            </a:extLst>
          </p:cNvPr>
          <p:cNvCxnSpPr>
            <a:cxnSpLocks/>
            <a:stCxn id="62" idx="1"/>
            <a:endCxn id="63" idx="3"/>
          </p:cNvCxnSpPr>
          <p:nvPr/>
        </p:nvCxnSpPr>
        <p:spPr>
          <a:xfrm>
            <a:off x="3091539" y="2155366"/>
            <a:ext cx="0" cy="476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矩形: 对角圆角 61">
            <a:extLst>
              <a:ext uri="{FF2B5EF4-FFF2-40B4-BE49-F238E27FC236}">
                <a16:creationId xmlns:a16="http://schemas.microsoft.com/office/drawing/2014/main" id="{9E658BBA-79E9-4039-B8B4-95781A9564CD}"/>
              </a:ext>
            </a:extLst>
          </p:cNvPr>
          <p:cNvSpPr/>
          <p:nvPr/>
        </p:nvSpPr>
        <p:spPr>
          <a:xfrm>
            <a:off x="2600692" y="1882232"/>
            <a:ext cx="981694" cy="273134"/>
          </a:xfrm>
          <a:prstGeom prst="round2Diag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子任务规划</a:t>
            </a:r>
          </a:p>
        </p:txBody>
      </p:sp>
      <p:sp>
        <p:nvSpPr>
          <p:cNvPr id="63" name="矩形: 对角圆角 62">
            <a:extLst>
              <a:ext uri="{FF2B5EF4-FFF2-40B4-BE49-F238E27FC236}">
                <a16:creationId xmlns:a16="http://schemas.microsoft.com/office/drawing/2014/main" id="{A1B183AD-5EBA-4DFF-8D72-9D51D1A7949D}"/>
              </a:ext>
            </a:extLst>
          </p:cNvPr>
          <p:cNvSpPr/>
          <p:nvPr/>
        </p:nvSpPr>
        <p:spPr>
          <a:xfrm>
            <a:off x="2759030" y="2631366"/>
            <a:ext cx="665018" cy="273134"/>
          </a:xfrm>
          <a:prstGeom prst="round2Diag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</a:t>
            </a:r>
          </a:p>
        </p:txBody>
      </p: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05F7165B-2D05-4EC8-AA5E-631898A4104E}"/>
              </a:ext>
            </a:extLst>
          </p:cNvPr>
          <p:cNvCxnSpPr>
            <a:stCxn id="50" idx="2"/>
            <a:endCxn id="62" idx="3"/>
          </p:cNvCxnSpPr>
          <p:nvPr/>
        </p:nvCxnSpPr>
        <p:spPr>
          <a:xfrm rot="16200000" flipH="1">
            <a:off x="2001976" y="792669"/>
            <a:ext cx="977736" cy="12013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连接符: 肘形 58">
            <a:extLst>
              <a:ext uri="{FF2B5EF4-FFF2-40B4-BE49-F238E27FC236}">
                <a16:creationId xmlns:a16="http://schemas.microsoft.com/office/drawing/2014/main" id="{0AC53452-365A-495D-AC61-375C8C107725}"/>
              </a:ext>
            </a:extLst>
          </p:cNvPr>
          <p:cNvCxnSpPr>
            <a:cxnSpLocks/>
            <a:stCxn id="51" idx="2"/>
            <a:endCxn id="62" idx="3"/>
          </p:cNvCxnSpPr>
          <p:nvPr/>
        </p:nvCxnSpPr>
        <p:spPr>
          <a:xfrm rot="16200000" flipH="1">
            <a:off x="2602669" y="1393362"/>
            <a:ext cx="977736" cy="3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连接符: 肘形 76">
            <a:extLst>
              <a:ext uri="{FF2B5EF4-FFF2-40B4-BE49-F238E27FC236}">
                <a16:creationId xmlns:a16="http://schemas.microsoft.com/office/drawing/2014/main" id="{DECD8312-BDA3-4FE0-A37F-8FCEC59FF4FA}"/>
              </a:ext>
            </a:extLst>
          </p:cNvPr>
          <p:cNvCxnSpPr>
            <a:cxnSpLocks/>
            <a:stCxn id="52" idx="2"/>
            <a:endCxn id="62" idx="3"/>
          </p:cNvCxnSpPr>
          <p:nvPr/>
        </p:nvCxnSpPr>
        <p:spPr>
          <a:xfrm rot="5400000">
            <a:off x="3203363" y="792672"/>
            <a:ext cx="977736" cy="120138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C13D275C-CBAB-473F-83B7-B63FA4F3D1BE}"/>
              </a:ext>
            </a:extLst>
          </p:cNvPr>
          <p:cNvCxnSpPr>
            <a:cxnSpLocks/>
            <a:stCxn id="63" idx="0"/>
            <a:endCxn id="52" idx="0"/>
          </p:cNvCxnSpPr>
          <p:nvPr/>
        </p:nvCxnSpPr>
        <p:spPr>
          <a:xfrm flipV="1">
            <a:off x="3424048" y="631363"/>
            <a:ext cx="868875" cy="2136570"/>
          </a:xfrm>
          <a:prstGeom prst="bentConnector4">
            <a:avLst>
              <a:gd name="adj1" fmla="val 168907"/>
              <a:gd name="adj2" fmla="val 11764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连接符: 肘形 93">
            <a:extLst>
              <a:ext uri="{FF2B5EF4-FFF2-40B4-BE49-F238E27FC236}">
                <a16:creationId xmlns:a16="http://schemas.microsoft.com/office/drawing/2014/main" id="{AA52E445-C700-4D1C-B35C-80196103D179}"/>
              </a:ext>
            </a:extLst>
          </p:cNvPr>
          <p:cNvCxnSpPr>
            <a:cxnSpLocks/>
            <a:stCxn id="63" idx="0"/>
            <a:endCxn id="51" idx="0"/>
          </p:cNvCxnSpPr>
          <p:nvPr/>
        </p:nvCxnSpPr>
        <p:spPr>
          <a:xfrm flipH="1" flipV="1">
            <a:off x="3091536" y="631363"/>
            <a:ext cx="332512" cy="2136570"/>
          </a:xfrm>
          <a:prstGeom prst="bentConnector4">
            <a:avLst>
              <a:gd name="adj1" fmla="val -441960"/>
              <a:gd name="adj2" fmla="val 11764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矩形 96">
            <a:extLst>
              <a:ext uri="{FF2B5EF4-FFF2-40B4-BE49-F238E27FC236}">
                <a16:creationId xmlns:a16="http://schemas.microsoft.com/office/drawing/2014/main" id="{7F4BA044-99BB-4709-8B1C-04760AA9E4F8}"/>
              </a:ext>
            </a:extLst>
          </p:cNvPr>
          <p:cNvSpPr/>
          <p:nvPr/>
        </p:nvSpPr>
        <p:spPr>
          <a:xfrm>
            <a:off x="8205849" y="61285"/>
            <a:ext cx="3930732" cy="6927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端侧智能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特点：离线使用、解决重复性工作、无侵入宿主电脑、自带算力</a:t>
            </a:r>
            <a:b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使用场景：襄阳打电话；论文录入；</a:t>
            </a: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0A06F212-B8A7-4B91-AF36-A5FB40FF61D7}"/>
              </a:ext>
            </a:extLst>
          </p:cNvPr>
          <p:cNvSpPr txBox="1"/>
          <p:nvPr/>
        </p:nvSpPr>
        <p:spPr>
          <a:xfrm>
            <a:off x="1444824" y="3120224"/>
            <a:ext cx="18774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端侧操作助手工作流程图</a:t>
            </a:r>
          </a:p>
        </p:txBody>
      </p:sp>
      <p:pic>
        <p:nvPicPr>
          <p:cNvPr id="105" name="图形 104" descr="计算机">
            <a:extLst>
              <a:ext uri="{FF2B5EF4-FFF2-40B4-BE49-F238E27FC236}">
                <a16:creationId xmlns:a16="http://schemas.microsoft.com/office/drawing/2014/main" id="{F2A6DDD8-B41D-4D60-ACF4-2EEDCB3D26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26573" y="1203718"/>
            <a:ext cx="506187" cy="506187"/>
          </a:xfrm>
          <a:prstGeom prst="rect">
            <a:avLst/>
          </a:prstGeom>
        </p:spPr>
      </p:pic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2338DD73-2F4C-4C9F-A237-4417AFD6F057}"/>
              </a:ext>
            </a:extLst>
          </p:cNvPr>
          <p:cNvSpPr/>
          <p:nvPr/>
        </p:nvSpPr>
        <p:spPr>
          <a:xfrm>
            <a:off x="7175911" y="1956136"/>
            <a:ext cx="736270" cy="26917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鼠标信号</a:t>
            </a:r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E85DD781-33FA-4E49-96B1-7F90C6FA04BB}"/>
              </a:ext>
            </a:extLst>
          </p:cNvPr>
          <p:cNvSpPr/>
          <p:nvPr/>
        </p:nvSpPr>
        <p:spPr>
          <a:xfrm>
            <a:off x="7175911" y="2423232"/>
            <a:ext cx="736270" cy="26917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键盘信号</a:t>
            </a:r>
          </a:p>
        </p:txBody>
      </p: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29F25403-06E2-4478-87D0-7389286816B5}"/>
              </a:ext>
            </a:extLst>
          </p:cNvPr>
          <p:cNvSpPr/>
          <p:nvPr/>
        </p:nvSpPr>
        <p:spPr>
          <a:xfrm>
            <a:off x="5688525" y="2148121"/>
            <a:ext cx="786741" cy="324591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端侧操作助手盒子</a:t>
            </a:r>
          </a:p>
        </p:txBody>
      </p: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0E27AFE6-16BC-445C-8FA7-12269E2E5270}"/>
              </a:ext>
            </a:extLst>
          </p:cNvPr>
          <p:cNvCxnSpPr>
            <a:cxnSpLocks/>
            <a:stCxn id="114" idx="0"/>
            <a:endCxn id="105" idx="2"/>
          </p:cNvCxnSpPr>
          <p:nvPr/>
        </p:nvCxnSpPr>
        <p:spPr>
          <a:xfrm flipH="1" flipV="1">
            <a:off x="6079667" y="1709905"/>
            <a:ext cx="2229" cy="438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1" name="文本框 140">
            <a:extLst>
              <a:ext uri="{FF2B5EF4-FFF2-40B4-BE49-F238E27FC236}">
                <a16:creationId xmlns:a16="http://schemas.microsoft.com/office/drawing/2014/main" id="{59AF40B8-2540-4735-BE11-EFD7F5FAE85A}"/>
              </a:ext>
            </a:extLst>
          </p:cNvPr>
          <p:cNvSpPr txBox="1"/>
          <p:nvPr/>
        </p:nvSpPr>
        <p:spPr>
          <a:xfrm>
            <a:off x="5328550" y="2720114"/>
            <a:ext cx="30059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模式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：透传模式</a:t>
            </a:r>
            <a:b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盒子处于静默状态，将捕获的鼠标与键盘信号透传至主机。</a:t>
            </a:r>
          </a:p>
        </p:txBody>
      </p:sp>
      <p:cxnSp>
        <p:nvCxnSpPr>
          <p:cNvPr id="146" name="连接符: 肘形 145">
            <a:extLst>
              <a:ext uri="{FF2B5EF4-FFF2-40B4-BE49-F238E27FC236}">
                <a16:creationId xmlns:a16="http://schemas.microsoft.com/office/drawing/2014/main" id="{4BE9BF1A-6364-4AA3-AD05-B9CA8A31CF59}"/>
              </a:ext>
            </a:extLst>
          </p:cNvPr>
          <p:cNvCxnSpPr>
            <a:cxnSpLocks/>
            <a:stCxn id="106" idx="1"/>
            <a:endCxn id="114" idx="3"/>
          </p:cNvCxnSpPr>
          <p:nvPr/>
        </p:nvCxnSpPr>
        <p:spPr>
          <a:xfrm rot="10800000" flipV="1">
            <a:off x="6475267" y="2090723"/>
            <a:ext cx="700645" cy="2196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" name="连接符: 肘形 148">
            <a:extLst>
              <a:ext uri="{FF2B5EF4-FFF2-40B4-BE49-F238E27FC236}">
                <a16:creationId xmlns:a16="http://schemas.microsoft.com/office/drawing/2014/main" id="{AAADA8D0-E9EC-4E01-9270-93C4D8BE46C7}"/>
              </a:ext>
            </a:extLst>
          </p:cNvPr>
          <p:cNvCxnSpPr>
            <a:cxnSpLocks/>
            <a:stCxn id="107" idx="1"/>
            <a:endCxn id="114" idx="3"/>
          </p:cNvCxnSpPr>
          <p:nvPr/>
        </p:nvCxnSpPr>
        <p:spPr>
          <a:xfrm rot="10800000">
            <a:off x="6475267" y="2310417"/>
            <a:ext cx="700645" cy="2474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69" name="图形 168" descr="计算机">
            <a:extLst>
              <a:ext uri="{FF2B5EF4-FFF2-40B4-BE49-F238E27FC236}">
                <a16:creationId xmlns:a16="http://schemas.microsoft.com/office/drawing/2014/main" id="{40CB25CF-D99E-4158-A901-F23783E6A9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89906" y="3446183"/>
            <a:ext cx="506187" cy="506187"/>
          </a:xfrm>
          <a:prstGeom prst="rect">
            <a:avLst/>
          </a:prstGeom>
        </p:spPr>
      </p:pic>
      <p:sp>
        <p:nvSpPr>
          <p:cNvPr id="170" name="矩形: 圆角 169">
            <a:extLst>
              <a:ext uri="{FF2B5EF4-FFF2-40B4-BE49-F238E27FC236}">
                <a16:creationId xmlns:a16="http://schemas.microsoft.com/office/drawing/2014/main" id="{EA0896B5-D0FE-485A-B2A8-041414A9109B}"/>
              </a:ext>
            </a:extLst>
          </p:cNvPr>
          <p:cNvSpPr/>
          <p:nvPr/>
        </p:nvSpPr>
        <p:spPr>
          <a:xfrm>
            <a:off x="7239244" y="4198601"/>
            <a:ext cx="736270" cy="26917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鼠标信号</a:t>
            </a:r>
          </a:p>
        </p:txBody>
      </p:sp>
      <p:sp>
        <p:nvSpPr>
          <p:cNvPr id="171" name="矩形: 圆角 170">
            <a:extLst>
              <a:ext uri="{FF2B5EF4-FFF2-40B4-BE49-F238E27FC236}">
                <a16:creationId xmlns:a16="http://schemas.microsoft.com/office/drawing/2014/main" id="{DF7D2C51-ACC8-4DEF-807E-FA7C0F6297B5}"/>
              </a:ext>
            </a:extLst>
          </p:cNvPr>
          <p:cNvSpPr/>
          <p:nvPr/>
        </p:nvSpPr>
        <p:spPr>
          <a:xfrm>
            <a:off x="7239244" y="4665697"/>
            <a:ext cx="736270" cy="26917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键盘信号</a:t>
            </a:r>
          </a:p>
        </p:txBody>
      </p:sp>
      <p:sp>
        <p:nvSpPr>
          <p:cNvPr id="172" name="矩形: 圆角 171">
            <a:extLst>
              <a:ext uri="{FF2B5EF4-FFF2-40B4-BE49-F238E27FC236}">
                <a16:creationId xmlns:a16="http://schemas.microsoft.com/office/drawing/2014/main" id="{6A90CC7A-13F9-4AF0-A354-E49E03B1D775}"/>
              </a:ext>
            </a:extLst>
          </p:cNvPr>
          <p:cNvSpPr/>
          <p:nvPr/>
        </p:nvSpPr>
        <p:spPr>
          <a:xfrm>
            <a:off x="5751858" y="4390586"/>
            <a:ext cx="786741" cy="324591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端侧操作助手盒子</a:t>
            </a:r>
          </a:p>
        </p:txBody>
      </p:sp>
      <p:cxnSp>
        <p:nvCxnSpPr>
          <p:cNvPr id="173" name="直接箭头连接符 172">
            <a:extLst>
              <a:ext uri="{FF2B5EF4-FFF2-40B4-BE49-F238E27FC236}">
                <a16:creationId xmlns:a16="http://schemas.microsoft.com/office/drawing/2014/main" id="{AABA10FD-5090-4A39-B8EA-B65E6C7D2B3E}"/>
              </a:ext>
            </a:extLst>
          </p:cNvPr>
          <p:cNvCxnSpPr>
            <a:cxnSpLocks/>
            <a:stCxn id="172" idx="0"/>
            <a:endCxn id="169" idx="2"/>
          </p:cNvCxnSpPr>
          <p:nvPr/>
        </p:nvCxnSpPr>
        <p:spPr>
          <a:xfrm flipH="1" flipV="1">
            <a:off x="6143000" y="3952370"/>
            <a:ext cx="2229" cy="438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4" name="文本框 173">
            <a:extLst>
              <a:ext uri="{FF2B5EF4-FFF2-40B4-BE49-F238E27FC236}">
                <a16:creationId xmlns:a16="http://schemas.microsoft.com/office/drawing/2014/main" id="{D2F7C745-6584-4E67-99CB-ADCA11D5CC38}"/>
              </a:ext>
            </a:extLst>
          </p:cNvPr>
          <p:cNvSpPr txBox="1"/>
          <p:nvPr/>
        </p:nvSpPr>
        <p:spPr>
          <a:xfrm>
            <a:off x="5391883" y="4962579"/>
            <a:ext cx="30059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模式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：交互配置模式</a:t>
            </a:r>
            <a:b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采用分屏技术，在保留主机原有画面的基础上，添加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AI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配置控制台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UI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，用户在此界面定义任务。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屏幕演示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对话</a:t>
            </a:r>
          </a:p>
        </p:txBody>
      </p:sp>
      <p:cxnSp>
        <p:nvCxnSpPr>
          <p:cNvPr id="175" name="连接符: 肘形 174">
            <a:extLst>
              <a:ext uri="{FF2B5EF4-FFF2-40B4-BE49-F238E27FC236}">
                <a16:creationId xmlns:a16="http://schemas.microsoft.com/office/drawing/2014/main" id="{0D8F4C4C-86BF-44DD-BCFA-1199E8CF8BFF}"/>
              </a:ext>
            </a:extLst>
          </p:cNvPr>
          <p:cNvCxnSpPr>
            <a:cxnSpLocks/>
            <a:stCxn id="170" idx="1"/>
            <a:endCxn id="172" idx="3"/>
          </p:cNvCxnSpPr>
          <p:nvPr/>
        </p:nvCxnSpPr>
        <p:spPr>
          <a:xfrm rot="10800000" flipV="1">
            <a:off x="6538600" y="4333188"/>
            <a:ext cx="700645" cy="2196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连接符: 肘形 175">
            <a:extLst>
              <a:ext uri="{FF2B5EF4-FFF2-40B4-BE49-F238E27FC236}">
                <a16:creationId xmlns:a16="http://schemas.microsoft.com/office/drawing/2014/main" id="{65165555-E14D-428C-AD79-F687E600F642}"/>
              </a:ext>
            </a:extLst>
          </p:cNvPr>
          <p:cNvCxnSpPr>
            <a:cxnSpLocks/>
            <a:stCxn id="171" idx="1"/>
            <a:endCxn id="172" idx="3"/>
          </p:cNvCxnSpPr>
          <p:nvPr/>
        </p:nvCxnSpPr>
        <p:spPr>
          <a:xfrm rot="10800000">
            <a:off x="6538600" y="4552882"/>
            <a:ext cx="700645" cy="2474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86" name="图形 185" descr="计算机">
            <a:extLst>
              <a:ext uri="{FF2B5EF4-FFF2-40B4-BE49-F238E27FC236}">
                <a16:creationId xmlns:a16="http://schemas.microsoft.com/office/drawing/2014/main" id="{AD755480-89A7-418B-8AED-BC7761129C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71470" y="3450142"/>
            <a:ext cx="506187" cy="506187"/>
          </a:xfrm>
          <a:prstGeom prst="rect">
            <a:avLst/>
          </a:prstGeom>
        </p:spPr>
      </p:pic>
      <p:sp>
        <p:nvSpPr>
          <p:cNvPr id="187" name="矩形: 圆角 186">
            <a:extLst>
              <a:ext uri="{FF2B5EF4-FFF2-40B4-BE49-F238E27FC236}">
                <a16:creationId xmlns:a16="http://schemas.microsoft.com/office/drawing/2014/main" id="{A9F1BC8A-D488-44A9-B16A-6A295468FFFF}"/>
              </a:ext>
            </a:extLst>
          </p:cNvPr>
          <p:cNvSpPr/>
          <p:nvPr/>
        </p:nvSpPr>
        <p:spPr>
          <a:xfrm>
            <a:off x="10520808" y="4202560"/>
            <a:ext cx="736270" cy="26917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鼠标信号</a:t>
            </a:r>
          </a:p>
        </p:txBody>
      </p:sp>
      <p:sp>
        <p:nvSpPr>
          <p:cNvPr id="188" name="矩形: 圆角 187">
            <a:extLst>
              <a:ext uri="{FF2B5EF4-FFF2-40B4-BE49-F238E27FC236}">
                <a16:creationId xmlns:a16="http://schemas.microsoft.com/office/drawing/2014/main" id="{6B6DF288-E05F-4A9E-B977-4CAD7670C699}"/>
              </a:ext>
            </a:extLst>
          </p:cNvPr>
          <p:cNvSpPr/>
          <p:nvPr/>
        </p:nvSpPr>
        <p:spPr>
          <a:xfrm>
            <a:off x="10520808" y="4669656"/>
            <a:ext cx="736270" cy="26917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键盘信号</a:t>
            </a:r>
          </a:p>
        </p:txBody>
      </p:sp>
      <p:sp>
        <p:nvSpPr>
          <p:cNvPr id="189" name="矩形: 圆角 188">
            <a:extLst>
              <a:ext uri="{FF2B5EF4-FFF2-40B4-BE49-F238E27FC236}">
                <a16:creationId xmlns:a16="http://schemas.microsoft.com/office/drawing/2014/main" id="{EB07A203-88D5-4295-BDF9-E34B68D69151}"/>
              </a:ext>
            </a:extLst>
          </p:cNvPr>
          <p:cNvSpPr/>
          <p:nvPr/>
        </p:nvSpPr>
        <p:spPr>
          <a:xfrm>
            <a:off x="9033422" y="4394545"/>
            <a:ext cx="786741" cy="324591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端侧操作助手盒子</a:t>
            </a:r>
          </a:p>
        </p:txBody>
      </p:sp>
      <p:cxnSp>
        <p:nvCxnSpPr>
          <p:cNvPr id="190" name="直接箭头连接符 189">
            <a:extLst>
              <a:ext uri="{FF2B5EF4-FFF2-40B4-BE49-F238E27FC236}">
                <a16:creationId xmlns:a16="http://schemas.microsoft.com/office/drawing/2014/main" id="{E407D44E-D0B7-4F85-A8B4-23F83E03E663}"/>
              </a:ext>
            </a:extLst>
          </p:cNvPr>
          <p:cNvCxnSpPr>
            <a:cxnSpLocks/>
            <a:stCxn id="189" idx="0"/>
            <a:endCxn id="186" idx="2"/>
          </p:cNvCxnSpPr>
          <p:nvPr/>
        </p:nvCxnSpPr>
        <p:spPr>
          <a:xfrm flipH="1" flipV="1">
            <a:off x="9424564" y="3956329"/>
            <a:ext cx="2229" cy="438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1" name="文本框 190">
            <a:extLst>
              <a:ext uri="{FF2B5EF4-FFF2-40B4-BE49-F238E27FC236}">
                <a16:creationId xmlns:a16="http://schemas.microsoft.com/office/drawing/2014/main" id="{68333BE5-06A9-4DF5-8055-49E82F696AB6}"/>
              </a:ext>
            </a:extLst>
          </p:cNvPr>
          <p:cNvSpPr txBox="1"/>
          <p:nvPr/>
        </p:nvSpPr>
        <p:spPr>
          <a:xfrm>
            <a:off x="8673447" y="4966538"/>
            <a:ext cx="30059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模式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：托管模式</a:t>
            </a:r>
            <a:b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智能体盒子不再将鼠标和键盘信号转入主机，系统根据任务链，自动模拟键鼠操作执行任务</a:t>
            </a:r>
          </a:p>
        </p:txBody>
      </p:sp>
      <p:cxnSp>
        <p:nvCxnSpPr>
          <p:cNvPr id="192" name="连接符: 肘形 191">
            <a:extLst>
              <a:ext uri="{FF2B5EF4-FFF2-40B4-BE49-F238E27FC236}">
                <a16:creationId xmlns:a16="http://schemas.microsoft.com/office/drawing/2014/main" id="{D2EF8BBE-6443-4F71-BAF4-F2B4B2F5AD89}"/>
              </a:ext>
            </a:extLst>
          </p:cNvPr>
          <p:cNvCxnSpPr>
            <a:cxnSpLocks/>
            <a:stCxn id="187" idx="1"/>
            <a:endCxn id="189" idx="3"/>
          </p:cNvCxnSpPr>
          <p:nvPr/>
        </p:nvCxnSpPr>
        <p:spPr>
          <a:xfrm rot="10800000" flipV="1">
            <a:off x="9820164" y="4337147"/>
            <a:ext cx="700645" cy="2196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连接符: 肘形 192">
            <a:extLst>
              <a:ext uri="{FF2B5EF4-FFF2-40B4-BE49-F238E27FC236}">
                <a16:creationId xmlns:a16="http://schemas.microsoft.com/office/drawing/2014/main" id="{335B0E60-B5DD-4B15-B8F2-65EC6F9BF771}"/>
              </a:ext>
            </a:extLst>
          </p:cNvPr>
          <p:cNvCxnSpPr>
            <a:cxnSpLocks/>
            <a:stCxn id="188" idx="1"/>
            <a:endCxn id="189" idx="3"/>
          </p:cNvCxnSpPr>
          <p:nvPr/>
        </p:nvCxnSpPr>
        <p:spPr>
          <a:xfrm rot="10800000">
            <a:off x="9820164" y="4556841"/>
            <a:ext cx="700645" cy="2474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5" name="图形 194" descr="关闭">
            <a:extLst>
              <a:ext uri="{FF2B5EF4-FFF2-40B4-BE49-F238E27FC236}">
                <a16:creationId xmlns:a16="http://schemas.microsoft.com/office/drawing/2014/main" id="{D9A7F4C9-C098-49A5-AE36-FB0C2A7DC1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68638" y="4394545"/>
            <a:ext cx="342667" cy="34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917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431</Words>
  <Application>Microsoft Office PowerPoint</Application>
  <PresentationFormat>宽屏</PresentationFormat>
  <Paragraphs>100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宋体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龙豆豆</dc:creator>
  <cp:lastModifiedBy>龙豆豆</cp:lastModifiedBy>
  <cp:revision>61</cp:revision>
  <dcterms:created xsi:type="dcterms:W3CDTF">2026-01-14T06:33:48Z</dcterms:created>
  <dcterms:modified xsi:type="dcterms:W3CDTF">2026-01-14T11:00:27Z</dcterms:modified>
</cp:coreProperties>
</file>